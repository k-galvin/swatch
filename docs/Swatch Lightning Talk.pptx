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 Light"/>
      <p:regular r:id="rId14"/>
      <p:bold r:id="rId15"/>
      <p:italic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Code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FiraCod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Light-bold.fntdata"/><Relationship Id="rId14" Type="http://schemas.openxmlformats.org/officeDocument/2006/relationships/font" Target="fonts/InterLight-regular.fntdata"/><Relationship Id="rId17" Type="http://schemas.openxmlformats.org/officeDocument/2006/relationships/font" Target="fonts/InterLight-boldItalic.fntdata"/><Relationship Id="rId16" Type="http://schemas.openxmlformats.org/officeDocument/2006/relationships/font" Target="fonts/InterLight-italic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k-galvin.github.io/swat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90400" y="1923009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A LANGUAGE FOR SPATIAL LOGIC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90400" y="2142084"/>
            <a:ext cx="11049000" cy="28500"/>
          </a:xfrm>
          <a:prstGeom prst="rect">
            <a:avLst/>
          </a:prstGeom>
          <a:solidFill>
            <a:srgbClr val="E94E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90400" y="2313534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D5DA1"/>
                </a:solidFill>
                <a:latin typeface="Space Grotesk"/>
                <a:ea typeface="Space Grotesk"/>
                <a:cs typeface="Space Grotesk"/>
                <a:sym typeface="Space Grotesk"/>
              </a:rPr>
              <a:t>Swatch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0400" y="3343216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Logic you can live in.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90400" y="440710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Kate Galvin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90400" y="4727080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94E33"/>
                </a:solidFill>
                <a:latin typeface="Inter"/>
                <a:ea typeface="Inter"/>
                <a:cs typeface="Inter"/>
                <a:sym typeface="Inter"/>
              </a:rPr>
              <a:t>CMSI Senior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350" y="2385607"/>
            <a:ext cx="1420751" cy="10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335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403132"/>
            <a:ext cx="550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D5DA1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Overly Complicated Processes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101429"/>
            <a:ext cx="52389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Professional design software is built for </a:t>
            </a:r>
            <a:r>
              <a:rPr lang="en-US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, not intuition. It's heavy, overwhelming, and </a:t>
            </a:r>
            <a:r>
              <a:rPr lang="en-US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oftentimes </a:t>
            </a: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expensive.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399652"/>
            <a:ext cx="5238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Swatch was born from a </a:t>
            </a:r>
            <a:r>
              <a:rPr lang="en-US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desire for a </a:t>
            </a: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way to describe </a:t>
            </a:r>
            <a:r>
              <a:rPr lang="en-US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space in a simple programmatic way.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8430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Complexity Trap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90713"/>
            <a:ext cx="523875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66775" y="3385988"/>
            <a:ext cx="685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94E33"/>
                </a:solidFill>
                <a:latin typeface="Fira Code"/>
                <a:ea typeface="Fira Code"/>
                <a:cs typeface="Fira Code"/>
                <a:sym typeface="Fira Code"/>
              </a:rPr>
              <a:t>Layout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695575" y="3385988"/>
            <a:ext cx="457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5DA1"/>
                </a:solidFill>
                <a:latin typeface="Fira Code"/>
                <a:ea typeface="Fira Code"/>
                <a:cs typeface="Fira Code"/>
                <a:sym typeface="Fira Code"/>
              </a:rPr>
              <a:t>size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95375" y="3633638"/>
            <a:ext cx="457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94E33"/>
                </a:solidFill>
                <a:latin typeface="Fira Code"/>
                <a:ea typeface="Fira Code"/>
                <a:cs typeface="Fira Code"/>
                <a:sym typeface="Fira Code"/>
              </a:rPr>
              <a:t>Wall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352675" y="3633638"/>
            <a:ext cx="457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5DA1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724275" y="3633638"/>
            <a:ext cx="228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5DA1"/>
                </a:solidFill>
                <a:latin typeface="Fira Code"/>
                <a:ea typeface="Fira Code"/>
                <a:cs typeface="Fira Code"/>
                <a:sym typeface="Fira Code"/>
              </a:rPr>
              <a:t>to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95375" y="3881288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94E33"/>
                </a:solidFill>
                <a:latin typeface="Fira Code"/>
                <a:ea typeface="Fira Code"/>
                <a:cs typeface="Fira Code"/>
                <a:sym typeface="Fira Code"/>
              </a:rPr>
              <a:t>place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466975" y="3881288"/>
            <a:ext cx="228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5DA1"/>
                </a:solidFill>
                <a:latin typeface="Fira Code"/>
                <a:ea typeface="Fira Code"/>
                <a:cs typeface="Fira Code"/>
                <a:sym typeface="Fira Code"/>
              </a:rPr>
              <a:t>at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81750" y="2710904"/>
            <a:ext cx="5500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Declarative Drafting.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81750" y="3261419"/>
            <a:ext cx="52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 Swatch, you don't "draw" pixels. You declare intentions.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381750" y="4091880"/>
            <a:ext cx="5238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compiler handles the coordinate math, the grid lines, and the high-contrast rendering automatically.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7150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 as a Blueprint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571500" y="1979050"/>
            <a:ext cx="3477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INTELLIGENCE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2266198"/>
            <a:ext cx="3714300" cy="18300"/>
          </a:xfrm>
          <a:prstGeom prst="rect">
            <a:avLst/>
          </a:prstGeom>
          <a:solidFill>
            <a:srgbClr val="E94E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437650"/>
            <a:ext cx="37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Intention over Pixels.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868075"/>
            <a:ext cx="41724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Furniture in Swatch isn't just a symbol—</a:t>
            </a:r>
            <a:r>
              <a:rPr lang="en-US" sz="1800">
                <a:solidFill>
                  <a:srgbClr val="1A1A1A"/>
                </a:solidFill>
                <a:highlight>
                  <a:srgbClr val="FDFCF8"/>
                </a:highlight>
                <a:latin typeface="Inter"/>
                <a:ea typeface="Inter"/>
                <a:cs typeface="Inter"/>
                <a:sym typeface="Inter"/>
              </a:rPr>
              <a:t>it's a smart spatial element with built-in design logic.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200975"/>
            <a:ext cx="41724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highlight>
                  <a:srgbClr val="FDFCF8"/>
                </a:highlight>
                <a:latin typeface="Inter"/>
                <a:ea typeface="Inter"/>
                <a:cs typeface="Inter"/>
                <a:sym typeface="Inter"/>
              </a:rPr>
              <a:t>Architectural details like soft shadows and high-contrast labels are automatically applied, ensuring professional results every time.</a:t>
            </a:r>
            <a:endParaRPr/>
          </a:p>
        </p:txBody>
      </p:sp>
      <p:pic>
        <p:nvPicPr>
          <p:cNvPr id="128" name="Google Shape;128;p16" title="Screenshot 2026-04-17 at 12.55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458" y="0"/>
            <a:ext cx="693354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51769"/>
            <a:ext cx="3492400" cy="344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251769"/>
            <a:ext cx="3492549" cy="344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251769"/>
            <a:ext cx="3492400" cy="344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9575" y="26327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84239" y="3299519"/>
            <a:ext cx="2866920" cy="360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Collision Logic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12800" y="3850025"/>
            <a:ext cx="30069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compiler calculates bounding boxes to ensure furniture doesn't unintentionally overlap with walls.</a:t>
            </a:r>
            <a:endParaRPr sz="1200"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6301" y="2632769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4662387" y="3299519"/>
            <a:ext cx="2867077" cy="360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Boundary Safety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730650" y="3850034"/>
            <a:ext cx="2730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Every element is validated to stay strictly within the Layout dimensions.</a:t>
            </a:r>
            <a:endParaRPr sz="1200"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36025" y="26327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440690" y="3299519"/>
            <a:ext cx="2866920" cy="360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Safety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508950" y="3850034"/>
            <a:ext cx="27303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analyzer ensures data consistency and structural validty across all design operations.</a:t>
            </a:r>
            <a:endParaRPr sz="1200"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Spatial Brain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571500" y="2710904"/>
            <a:ext cx="5500687" cy="360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Generative Logic.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261419"/>
            <a:ext cx="5238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Wh</a:t>
            </a:r>
            <a:r>
              <a:rPr lang="en-US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at about spaces with repititive elements like office desks</a:t>
            </a: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4091880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Using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loops</a:t>
            </a: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components</a:t>
            </a: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, Swatch transforms repetitive architectural tasks into elegant algorithmic patterns.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Scaling the Design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8" title="Screenshot 2026-04-17 at 1.04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525" y="1480434"/>
            <a:ext cx="4342604" cy="103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18" title="Screenshot 2026-04-17 at 1.04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3450" y="2710899"/>
            <a:ext cx="4342601" cy="131079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18" title="Screenshot 2026-04-17 at 1.05.0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2175" y="4283862"/>
            <a:ext cx="4510414" cy="2209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/>
        </p:nvSpPr>
        <p:spPr>
          <a:xfrm>
            <a:off x="5953175" y="3126134"/>
            <a:ext cx="550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4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SVG Export.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953175" y="3676650"/>
            <a:ext cx="55008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Compiles directly to high-quality, scalable SVG. No bloated files—just clean, vector-perfect geometry ready for the web or the printer.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Lightweight Architecture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9" title="Screenshot 2026-04-17 at 1.18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507400"/>
            <a:ext cx="4782624" cy="5020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/>
        </p:nvSpPr>
        <p:spPr>
          <a:xfrm>
            <a:off x="369450" y="2145850"/>
            <a:ext cx="11453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00">
                <a:solidFill>
                  <a:srgbClr val="2D5DA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 for listening</a:t>
            </a:r>
            <a:endParaRPr sz="100"/>
          </a:p>
        </p:txBody>
      </p:sp>
      <p:sp>
        <p:nvSpPr>
          <p:cNvPr id="173" name="Google Shape;173;p20"/>
          <p:cNvSpPr txBox="1"/>
          <p:nvPr/>
        </p:nvSpPr>
        <p:spPr>
          <a:xfrm>
            <a:off x="3886200" y="3604995"/>
            <a:ext cx="441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E94E33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sz="1800"/>
          </a:p>
        </p:txBody>
      </p:sp>
      <p:sp>
        <p:nvSpPr>
          <p:cNvPr id="174" name="Google Shape;174;p20"/>
          <p:cNvSpPr txBox="1"/>
          <p:nvPr/>
        </p:nvSpPr>
        <p:spPr>
          <a:xfrm>
            <a:off x="4111950" y="4448250"/>
            <a:ext cx="3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latin typeface="Inter SemiBold"/>
                <a:ea typeface="Inter SemiBold"/>
                <a:cs typeface="Inter SemiBold"/>
                <a:sym typeface="Inter SemiBold"/>
                <a:hlinkClick r:id="rId3"/>
              </a:rPr>
              <a:t>https://k-galvin.github.io/swatch/</a:t>
            </a:r>
            <a:endParaRPr sz="180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